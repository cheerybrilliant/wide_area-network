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9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4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C4E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E8F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Routers</c:v>
                  </c:pt>
                  <c:pt idx="1">
                    <c:v>Fiber &amp; SFP</c:v>
                  </c:pt>
                  <c:pt idx="2">
                    <c:v>CSU/DSU</c:v>
                  </c:pt>
                  <c:pt idx="3">
                    <c:v>Serial/Console
Cables</c:v>
                  </c:pt>
                  <c:pt idx="4">
                    <c:v>Rack &amp; Misc</c:v>
                  </c:pt>
                  <c:pt idx="5">
                    <c:v>Unused
Headroom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6600</c:v>
                </c:pt>
                <c:pt idx="1">
                  <c:v>675</c:v>
                </c:pt>
                <c:pt idx="2">
                  <c:v>900</c:v>
                </c:pt>
                <c:pt idx="3">
                  <c:v>400</c:v>
                </c:pt>
                <c:pt idx="4">
                  <c:v>150</c:v>
                </c:pt>
                <c:pt idx="5">
                  <c:v>6275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AF3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148840"/>
            <a:ext cx="1371600" cy="1371600"/>
          </a:xfrm>
          <a:prstGeom prst="ellipse">
            <a:avLst/>
          </a:prstGeom>
          <a:solidFill>
            <a:srgbClr val="D4A94C"/>
          </a:solidFill>
          <a:ln/>
        </p:spPr>
      </p:sp>
      <p:pic>
        <p:nvPicPr>
          <p:cNvPr id="4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299716"/>
            <a:ext cx="1069848" cy="1069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749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663440" y="18288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Bank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63440" y="2514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 Deployment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663440" y="3200400"/>
            <a:ext cx="2926080" cy="0"/>
          </a:xfrm>
          <a:prstGeom prst="line">
            <a:avLst/>
          </a:prstGeom>
          <a:noFill/>
          <a:ln w="25400">
            <a:solidFill>
              <a:srgbClr val="D4A9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383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5-Site Capstone Network Architecture — CS 4122: Wide Area Networks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48463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WAN Defense Board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 3132 / CS 4122 — Wide Area Networks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Physical Layer Bill of Materials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6263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Deliverable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 — before a single configuration line is written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Selection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model per site, sized to throughput &amp; user count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18891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Transceivers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type and quantity for every inter-site link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8891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&amp; Connectors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type (SMF/MMF) and connector standard (LC)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0837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&amp; Pinouts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V.35 and RS-232 cabling with DTE/DCE pin mapping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d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630" y="408371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Plan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DCE/DTE assignment and required clock rate per link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mon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70" y="408371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Compliance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itemized cost, held under the XAF 8,631,150 ceiling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Recap — The Meridian Bank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 across Cameroon, one non-negotiable set of constraints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 servers, 99.999% uptime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 — 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commercial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 — 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 — 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 — 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presence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685800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365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55448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9095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Constraints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09560" y="224028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Mbps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throughput to every branch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XAF 8,631,150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budget — strict ceiling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CHAP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on all inter-branch traffic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single link — HQ to Maroua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 — Respect the Physics of the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BoM is not "just pick the fastest SFP"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fiber transceivers are reach-limited — SX ≈ 550 m, LX ≈ 10 km, ZX ≈ 70–80 km. Not one of them reaches the 200–1,000 km spans between HQ and the branches. A BoM that simply specifies "SFP" for every link fails on Day 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does not build its own 1,000 km fiber run. Camtel, the carrier, already owns that long-haul path (with its own amplification and regeneration). Meridian Bank's Bill of Materials only needs to cover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short hop from the router to the carrier's demarcation point in each city. That is a design decision, and it is the one this BoM makes.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3987241"/>
            <a:ext cx="392278" cy="3922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first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Layer 1 is broken, Layers 2 and 3 never get a chance to matter.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21" y="3987241"/>
            <a:ext cx="392278" cy="3922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carries the distance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 optics only; Camtel's backbone carries the km.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081" y="3987241"/>
            <a:ext cx="392278" cy="3922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a primary fiber path and a serial backup path.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Topology — Dual-Path Hub and Spoke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reaches HQ through the Camtel core, on two independent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23560" y="32918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9050">
            <a:solidFill>
              <a:srgbClr val="D4A9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429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67" y="350946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Yaoundé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66360" y="2834640"/>
            <a:ext cx="2286000" cy="228600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5B6B8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61772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MPLS / Metro-E 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8872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2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02" y="1002182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714500" y="1303020"/>
            <a:ext cx="45948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8872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6" name="Shape 12"/>
          <p:cNvSpPr/>
          <p:nvPr/>
        </p:nvSpPr>
        <p:spPr>
          <a:xfrm>
            <a:off x="144475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7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102" y="351678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714500" y="3817620"/>
            <a:ext cx="45948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9264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1" name="Shape 16"/>
          <p:cNvSpPr/>
          <p:nvPr/>
        </p:nvSpPr>
        <p:spPr>
          <a:xfrm>
            <a:off x="994867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2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022" y="1002182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 flipV="1">
            <a:off x="6309360" y="1303020"/>
            <a:ext cx="39090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9264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6" name="Shape 20"/>
          <p:cNvSpPr/>
          <p:nvPr/>
        </p:nvSpPr>
        <p:spPr>
          <a:xfrm>
            <a:off x="994867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7" name="Image 4" descr="/home/claude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9022" y="3516782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116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flipV="1">
            <a:off x="6309360" y="3817620"/>
            <a:ext cx="39090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" y="5989320"/>
            <a:ext cx="457200" cy="0"/>
          </a:xfrm>
          <a:prstGeom prst="line">
            <a:avLst/>
          </a:prstGeom>
          <a:noFill/>
          <a:ln w="31750">
            <a:solidFill>
              <a:srgbClr val="D4A94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8872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Camtel Metro-Ethernet / MPLS (fiber, SFP-LX)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675120" y="598932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722376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E1 leased line via CSU/DSU (V.35 serial)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user count, throughput demand, and role — not one-size-fits-all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GE (fiber) + 4× Serial NIM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1,409,754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1,035,738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604,180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C1111-4P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374,016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C1111-4P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374,016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8" name="Shape 4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4993081"/>
            <a:ext cx="392278" cy="392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4892040"/>
            <a:ext cx="10012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ISR 4331 gives HQ headroom for 500 users, 99.999%-uptime routing, and enough NIM slots to aggregate four backup serial links. Branch routers scale down with user count — the ISR 1101 series covers Garoua and Maroua's light 15–30 user load at a fraction of the cost, protecting the budget for the larger branches.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WAN Link — Fiber to the Carrier Demarc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site's local loop, not the inter-city span, sets the optic reach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SMF + LX, and not MMF or a ZX/SX mismatch: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 SFPs are for short campus runs — ordering MMF for any carrier local loop risks a dead link on Day 1.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 (single-mode, 10 km) comfortably covers every realistic local loop, whether the branch sits 200 km or 1,000 km from HQ — the long haul is Camtel's fiber, not the bank's.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on one transceiver part number across all 5 sites simplifies sparing and lowers unit cost.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WAN Link — Serial E1 via CSU/DSU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for the 99.999%-uptime requirement, with full clocking spec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74066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4114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Path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549640" y="2148840"/>
            <a:ext cx="2788920" cy="5943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549640" y="2148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(DTE — receives clock)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944100" y="274320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549640" y="3108960"/>
            <a:ext cx="2788920" cy="594360"/>
          </a:xfrm>
          <a:prstGeom prst="roundRect">
            <a:avLst/>
          </a:prstGeom>
          <a:solidFill>
            <a:srgbClr val="5B6B8C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3108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CSU/DSU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(DCE — provides clock)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944100" y="370332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549640" y="4069080"/>
            <a:ext cx="2788920" cy="594360"/>
          </a:xfrm>
          <a:prstGeom prst="roundRect">
            <a:avLst/>
          </a:prstGeom>
          <a:solidFill>
            <a:srgbClr val="D4A94C"/>
          </a:solidFill>
          <a:ln/>
        </p:spPr>
      </p:sp>
      <p:sp>
        <p:nvSpPr>
          <p:cNvPr id="16" name="Text 12"/>
          <p:cNvSpPr/>
          <p:nvPr/>
        </p:nvSpPr>
        <p:spPr>
          <a:xfrm>
            <a:off x="8549640" y="4069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E1 Demarc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4582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the DCE (CSU/DSU) always supplies clocking. A clock-rate mismatch here is the #1 cause of a serial link stuck in "down/down."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&amp; Management Cabling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remains the most reliable path in when the network itself is down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92024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cable (×5, one per router)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(rollover)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→ DB-9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9600-8-N-1, no flow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LAN uplinks (×5)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GE port → access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panel jumpers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Demarc patch panel →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148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cable type still gets a line item: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160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crossover cable where straight-through is required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link that is physically "up" but passes no traffic — a classic Layer 1 trap this BoM avoids by specifying pinout, not just "a cable."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48188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DTE/DCE assignment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on-site who guesses wrong will spend hours chasing a clock-rate mismatch that a labeled BoM prevents in five minutes.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54772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console cable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only path into a router once a misconfiguration takes down its network interfaces.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Itemized Bill of Materials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sites, primary + backup paths, fully priced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411480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 (HQ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1,409,754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1,409,754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4321 (Douala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1,035,738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1,035,738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4221 (Buea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604,180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604,180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C1111-4P (Garoua &amp; Maroua routers)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374,016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748,033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transceiver, 1310 nm, SMF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69,049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345,246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 patch cable, LC-LC duplex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8,631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43,156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103,574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517,869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serial cable (DTE, router-side)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25,893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129,467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demarc cable, RJ-48C (carrier-side)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11,508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57,541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rollover console 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8,631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43,156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accessories &amp; patch panel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86,312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XAF 86,312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63040"/>
            <a:ext cx="786384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36576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686800" y="1463040"/>
            <a:ext cx="2971800" cy="4114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8915400" y="1691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915400" y="2148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XAF 5,020,452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91540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1 Spend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006840" y="3246120"/>
            <a:ext cx="2331720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1540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XAF 8,631,150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91540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Ceiling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006840" y="42062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5" name="Text 11"/>
          <p:cNvSpPr/>
          <p:nvPr/>
        </p:nvSpPr>
        <p:spPr>
          <a:xfrm>
            <a:off x="9006840" y="4206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utilized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915400" y="4800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XAF 3,610,698 reserved for Phase 2 — firewalls, LAN switching, and ACL/NAT licensing.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Allocation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XAF 5,020,452 goes — and what headroom remains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BoM Protects Against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mistakes are the most expensive to fix — hardware is already shipped across the country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248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fiber mode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ordered for a carrier hand-off: dead link on Day 1, full reship cycle to fix.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9248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clock rate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 rate on the DCE side: serial interface stays down/down indefinitely.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9248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access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RS-232 cable on-site: a misconfigured router becomes unreachable remotely.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822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path only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WAN link per branch: any fiber cut takes the branch fully offline.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9822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pinout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swapped for straight-through: link shows "up" but never passes traffic.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1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39822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spend: exceeding XAF 8,631,150 stops procurement mid-deployment.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2026-07-21T22:11:00Z</dcterms:created>
  <dcterms:modified xsi:type="dcterms:W3CDTF">2026-07-21T22:11:01Z</dcterms:modified>
</cp:coreProperties>
</file>